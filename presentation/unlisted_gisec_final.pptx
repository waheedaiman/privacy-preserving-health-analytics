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Arial"/>
              </a:rPr>
              <a:t>SCHOOL OF CYBER DEFENSE 2026   ·   GISEC GLOBAL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737360"/>
            <a:ext cx="10874959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FFFFFF"/>
                </a:solidFill>
                <a:latin typeface="Arial"/>
              </a:rPr>
              <a:t>The model is the leak.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200400"/>
            <a:ext cx="7680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C3C2B7"/>
                </a:solidFill>
                <a:latin typeface="Arial"/>
              </a:rPr>
              <a:t>Pseudonymisation removes the name from the record. We proved that the trained model still gives the patient away.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891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8A8980"/>
                </a:solidFill>
                <a:latin typeface="Arial"/>
              </a:rPr>
              <a:t>Team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6" y="43891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rial"/>
              </a:rPr>
              <a:t>unlisted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303520"/>
            <a:ext cx="3502152" cy="96012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5449824"/>
            <a:ext cx="3502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3987E5"/>
                </a:solidFill>
                <a:latin typeface="Arial"/>
              </a:rPr>
              <a:t>6,000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85216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3C2B7"/>
                </a:solidFill>
                <a:latin typeface="Arial"/>
              </a:rPr>
              <a:t>patients, three times our Stage 2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303520"/>
            <a:ext cx="3502152" cy="96012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26864" y="5449824"/>
            <a:ext cx="3502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9085E9"/>
                </a:solidFill>
                <a:latin typeface="Arial"/>
              </a:rPr>
              <a:t>3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585216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3C2B7"/>
                </a:solidFill>
                <a:latin typeface="Arial"/>
              </a:rPr>
              <a:t>every model trained and attacked three times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5303520"/>
            <a:ext cx="3502152" cy="96012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5449824"/>
            <a:ext cx="3502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99E70"/>
                </a:solidFill>
                <a:latin typeface="Arial"/>
              </a:rPr>
              <a:t>0.6%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5852160"/>
            <a:ext cx="3136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C3C2B7"/>
                </a:solidFill>
                <a:latin typeface="Arial"/>
              </a:rPr>
              <a:t>accuracy we pay for a formal privacy guarantee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Arial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Two hospitals. One model. Zero shared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65960"/>
            <a:ext cx="3502152" cy="233172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45720" cy="2331720"/>
          </a:xfrm>
          <a:prstGeom prst="roundRect">
            <a:avLst>
              <a:gd name="adj" fmla="val 6000"/>
            </a:avLst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67128"/>
            <a:ext cx="29900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The data cannot travel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4328"/>
            <a:ext cx="2990088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Federal Law No. 2 of 2019.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UAE health data must not leave the State.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Pooling the records is not an option.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65960"/>
            <a:ext cx="3502152" cy="233172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965960"/>
            <a:ext cx="45720" cy="2331720"/>
          </a:xfrm>
          <a:prstGeom prst="roundRect">
            <a:avLst>
              <a:gd name="adj" fmla="val 6000"/>
            </a:avLst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167128"/>
            <a:ext cx="29900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Names are not enough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624328"/>
            <a:ext cx="2990088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PDPL Art. 20 asks for pseudonymisation.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It hides the name in the row.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It does not hide the patient in the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965960"/>
            <a:ext cx="3502152" cy="233172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19872" y="1965960"/>
            <a:ext cx="45720" cy="2331720"/>
          </a:xfrm>
          <a:prstGeom prst="roundRect">
            <a:avLst>
              <a:gd name="adj" fmla="val 6000"/>
            </a:avLst>
          </a:prstGeom>
          <a:solidFill>
            <a:srgbClr val="908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75904" y="2167128"/>
            <a:ext cx="29900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Presence is the breach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2624328"/>
            <a:ext cx="2990088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A model that remembers a patient reveals them.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It shows that the person was in that hospital, in that period.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The diagnosis is not needed.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663440"/>
            <a:ext cx="10874959" cy="105156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956048"/>
            <a:ext cx="102531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Our job was not to claim this gap exists. It was to measure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8980"/>
                </a:solidFill>
                <a:latin typeface="Arial"/>
              </a:rPr>
              <a:t>Every measured result in this deck is the mean of three independent runs.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Arial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Records stay home. Only protected maths travels.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45720" cy="1234440"/>
          </a:xfrm>
          <a:prstGeom prst="roundRect">
            <a:avLst>
              <a:gd name="adj" fmla="val 6000"/>
            </a:avLst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1226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Hospital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1459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3C2B7"/>
                </a:solidFill>
                <a:latin typeface="Arial"/>
              </a:rPr>
              <a:t>3,000 patients. Trains locally, then adds the noise.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8768" y="2258567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8A8980"/>
                </a:solidFill>
                <a:latin typeface="Arial"/>
              </a:rPr>
              <a:t>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874519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25696" y="1874519"/>
            <a:ext cx="45720" cy="1234440"/>
          </a:xfrm>
          <a:prstGeom prst="roundRect">
            <a:avLst>
              <a:gd name="adj" fmla="val 6000"/>
            </a:avLst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11226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Aggregation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1459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3C2B7"/>
                </a:solidFill>
                <a:latin typeface="Arial"/>
              </a:rPr>
              <a:t>Averages the protected updates. Never sees a record.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6096" y="2258567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8A8980"/>
                </a:solidFill>
                <a:latin typeface="Arial"/>
              </a:rPr>
              <a:t>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874519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93024" y="1874519"/>
            <a:ext cx="45720" cy="1234440"/>
          </a:xfrm>
          <a:prstGeom prst="roundRect">
            <a:avLst>
              <a:gd name="adj" fmla="val 6000"/>
            </a:avLst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2112263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Hospital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514599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C3C2B7"/>
                </a:solidFill>
                <a:latin typeface="Arial"/>
              </a:rPr>
              <a:t>3,000 patients. Trains locally, then adds the noise.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72967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A8980"/>
                </a:solidFill>
                <a:latin typeface="Arial"/>
              </a:rPr>
              <a:t>Eight rounds. The protected update goes up, the averaged model comes back. The records never move.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429000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429000"/>
            <a:ext cx="45720" cy="1691640"/>
          </a:xfrm>
          <a:prstGeom prst="roundRect">
            <a:avLst>
              <a:gd name="adj" fmla="val 6000"/>
            </a:avLst>
          </a:prstGeom>
          <a:solidFill>
            <a:srgbClr val="199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30168"/>
            <a:ext cx="29900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The server is not trusted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87368"/>
            <a:ext cx="2990088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Noise is added inside the hospital.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A stolen server learns no more than the epsilon bound allows.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429000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89120" y="3429000"/>
            <a:ext cx="45720" cy="1691640"/>
          </a:xfrm>
          <a:prstGeom prst="roundRect">
            <a:avLst>
              <a:gd name="adj" fmla="val 6000"/>
            </a:avLst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5152" y="3630168"/>
            <a:ext cx="29900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The budget does not add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4087368"/>
            <a:ext cx="2990088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No patient is at both hospitals.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The cost is the larger of the two, not the sum.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19872" y="3429000"/>
            <a:ext cx="3502152" cy="169164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19872" y="3429000"/>
            <a:ext cx="45720" cy="1691640"/>
          </a:xfrm>
          <a:prstGeom prst="roundRect">
            <a:avLst>
              <a:gd name="adj" fmla="val 6000"/>
            </a:avLst>
          </a:prstGeom>
          <a:solidFill>
            <a:srgbClr val="908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3630168"/>
            <a:ext cx="29900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Scale makes privacy cheap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087368"/>
            <a:ext cx="2990088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In Stage 2, at 2,000 patients, privacy cost 2.5% of the accuracy.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At 6,000 patients it costs 0.6%.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349240"/>
            <a:ext cx="10874959" cy="77724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" y="5504688"/>
            <a:ext cx="10253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199E70"/>
                </a:solidFill>
                <a:latin typeface="Arial"/>
              </a:rPr>
              <a:t>More data does not make privacy more expensive. It makes it cheaper.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Arial"/>
              </a:rPr>
              <a:t>RED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We attacked our own model with seven attacks, including the state of the art.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5304891" cy="1874519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45720" cy="1874519"/>
          </a:xfrm>
          <a:prstGeom prst="roundRect">
            <a:avLst>
              <a:gd name="adj" fmla="val 6000"/>
            </a:avLst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57984"/>
            <a:ext cx="47928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D95926"/>
                </a:solidFill>
                <a:latin typeface="Arial"/>
              </a:rPr>
              <a:t>0.586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52928"/>
            <a:ext cx="4792827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C3C2B7"/>
                </a:solidFill>
                <a:latin typeface="Arial"/>
              </a:rPr>
              <a:t>Best of the seven attacks against the careless model. 0.5 means the attacker learns nothing. Our audit proves a real leak at epsilon of 2.36.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435" y="1920240"/>
            <a:ext cx="5304891" cy="1874519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28435" y="1920240"/>
            <a:ext cx="45720" cy="1874519"/>
          </a:xfrm>
          <a:prstGeom prst="roundRect">
            <a:avLst>
              <a:gd name="adj" fmla="val 6000"/>
            </a:avLst>
          </a:prstGeom>
          <a:solidFill>
            <a:srgbClr val="199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4467" y="2157984"/>
            <a:ext cx="479282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99E70"/>
                </a:solidFill>
                <a:latin typeface="Arial"/>
              </a:rPr>
              <a:t>0.506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4467" y="2852928"/>
            <a:ext cx="4792827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C3C2B7"/>
                </a:solidFill>
                <a:latin typeface="Arial"/>
              </a:rPr>
              <a:t>Best of the same seven against the DP model. This is chance level, in every one of the 3 runs.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069080"/>
            <a:ext cx="3502152" cy="196596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4069080"/>
            <a:ext cx="45720" cy="1965960"/>
          </a:xfrm>
          <a:prstGeom prst="roundRect">
            <a:avLst>
              <a:gd name="adj" fmla="val 6000"/>
            </a:avLst>
          </a:prstGeom>
          <a:solidFill>
            <a:srgbClr val="908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70248"/>
            <a:ext cx="29900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LiRA, not a simple threshold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27448"/>
            <a:ext cx="2990088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96 shadow models for each target.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It learns what a normal score looks like for every single patient.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069080"/>
            <a:ext cx="3502152" cy="196596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4069080"/>
            <a:ext cx="45720" cy="1965960"/>
          </a:xfrm>
          <a:prstGeom prst="roundRect">
            <a:avLst>
              <a:gd name="adj" fmla="val 6000"/>
            </a:avLst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4270248"/>
            <a:ext cx="29900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The average score 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4727448"/>
            <a:ext cx="2990088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At a 1% false alarm rate, LiRA finds 1.7 times more patients than the classic attack.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On the average score they look the same.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4069080"/>
            <a:ext cx="3502152" cy="196596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19872" y="4069080"/>
            <a:ext cx="45720" cy="1965960"/>
          </a:xfrm>
          <a:prstGeom prst="roundRect">
            <a:avLst>
              <a:gd name="adj" fmla="val 6000"/>
            </a:avLst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75904" y="4270248"/>
            <a:ext cx="29900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The leak finds the most ill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727448"/>
            <a:ext cx="2990088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Patients with 5 or more conditions score 0.70. Patients with one or two score 0.56.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Only the calibrated attack can see this difference.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8980"/>
                </a:solidFill>
                <a:latin typeface="Arial"/>
              </a:rPr>
              <a:t>LiRA: Carlini et al., IEEE Symposium on Security and Privacy, 2022. Repeated across 3 independent runs.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987E5"/>
                </a:solidFill>
                <a:latin typeface="Arial"/>
              </a:rPr>
              <a:t>RESULTS AND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86384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3800" b="1">
                <a:solidFill>
                  <a:srgbClr val="FFFFFF"/>
                </a:solidFill>
                <a:latin typeface="Arial"/>
              </a:rPr>
              <a:t>A formal guarantee for 0.6% of the accuracy.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8980"/>
                </a:solidFill>
                <a:latin typeface="Arial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828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8980"/>
                </a:solidFill>
                <a:latin typeface="Arial"/>
              </a:rP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8980"/>
                </a:solidFill>
                <a:latin typeface="Arial"/>
              </a:rPr>
              <a:t>ATTACK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8288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8980"/>
                </a:solidFill>
                <a:latin typeface="Arial"/>
              </a:rPr>
              <a:t>OF THE BEST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1828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A8980"/>
                </a:solidFill>
                <a:latin typeface="Arial"/>
              </a:rPr>
              <a:t>GUARANTEE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21284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Trained without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128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0.711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1284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D95926"/>
                </a:solidFill>
                <a:latin typeface="Arial"/>
              </a:rPr>
              <a:t>0.586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21284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3C2B7"/>
                </a:solidFill>
                <a:latin typeface="Arial"/>
              </a:rPr>
              <a:t>90.7%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2212848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8980"/>
                </a:solidFill>
                <a:latin typeface="Arial"/>
              </a:rPr>
              <a:t>none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7977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Trained with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77977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0.776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779776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C3C2B7"/>
                </a:solidFill>
                <a:latin typeface="Arial"/>
              </a:rPr>
              <a:t>0.512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779776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3C2B7"/>
                </a:solidFill>
                <a:latin typeface="Arial"/>
              </a:rP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2779776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A8980"/>
                </a:solidFill>
                <a:latin typeface="Arial"/>
              </a:rPr>
              <a:t>none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" y="3255264"/>
            <a:ext cx="11167567" cy="512064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34670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Federated + DP, epsilon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34670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0.771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346704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9E70"/>
                </a:solidFill>
                <a:latin typeface="Arial"/>
              </a:rPr>
              <a:t>0.506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346704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3C2B7"/>
                </a:solidFill>
                <a:latin typeface="Arial"/>
              </a:rPr>
              <a:t>98.3%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34670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199E70"/>
                </a:solidFill>
                <a:latin typeface="Arial"/>
              </a:rPr>
              <a:t>yes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877056"/>
            <a:ext cx="1087495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8980"/>
                </a:solidFill>
                <a:latin typeface="Arial"/>
              </a:rPr>
              <a:t>Budget we spend: epsilon 2.99, delta 0.00001, for each hospital. 0.5 on the attack score is chance level.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315968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8368" y="4315968"/>
            <a:ext cx="45720" cy="1737360"/>
          </a:xfrm>
          <a:prstGeom prst="roundRect">
            <a:avLst>
              <a:gd name="adj" fmla="val 6000"/>
            </a:avLst>
          </a:prstGeom>
          <a:solidFill>
            <a:srgbClr val="D959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517136"/>
            <a:ext cx="29900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Careless is not cheap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74336"/>
            <a:ext cx="299008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The leaking model was also the least accurate model we built.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Privacy and accuracy fail together.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315968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89120" y="4315968"/>
            <a:ext cx="45720" cy="1737360"/>
          </a:xfrm>
          <a:prstGeom prst="roundRect">
            <a:avLst>
              <a:gd name="adj" fmla="val 6000"/>
            </a:avLst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4517136"/>
            <a:ext cx="29900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Care is not a guarantee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4974336"/>
            <a:ext cx="299008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LiRA still scores 0.512 against the careful model, above chance in all three runs.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Only DP reaches chance level.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2" y="4315968"/>
            <a:ext cx="3502152" cy="1737360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119872" y="4315968"/>
            <a:ext cx="45720" cy="1737360"/>
          </a:xfrm>
          <a:prstGeom prst="roundRect">
            <a:avLst>
              <a:gd name="adj" fmla="val 6000"/>
            </a:avLst>
          </a:prstGeom>
          <a:solidFill>
            <a:srgbClr val="199E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75904" y="4517136"/>
            <a:ext cx="299008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Deploy epsilon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75904" y="4974336"/>
            <a:ext cx="2990088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98.3% of the best possible accuracy, attack held at chance level.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350" b="0">
                <a:solidFill>
                  <a:srgbClr val="C3C2B7"/>
                </a:solidFill>
                <a:latin typeface="Arial"/>
              </a:rPr>
              <a:t>A guarantee that covers future attacks.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8980"/>
                </a:solidFill>
                <a:latin typeface="Arial"/>
              </a:rPr>
              <a:t>The jury asked for scale and repeat runs. We delivered 6,000 patients and 3 independent runs. One command reproduces every number.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